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fdd14d3cb54268" /><Relationship Type="http://schemas.openxmlformats.org/officeDocument/2006/relationships/extended-properties" Target="/docProps/app.xml" Id="Rfa2eea8066f34ea9" /><Relationship Type="http://schemas.openxmlformats.org/officeDocument/2006/relationships/officeDocument" Target="/ppt/presentation.xml" Id="R3ae3592fb757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871e4ba664c51"/>
  </p:sldMasterIdLst>
  <p:notesMasterIdLst>
    <p:notesMasterId xmlns:r="http://schemas.openxmlformats.org/officeDocument/2006/relationships" r:id="R52c56f230a6a4096"/>
  </p:notesMasterIdLst>
  <p:sldIdLst>
    <p:sldId xmlns:r="http://schemas.openxmlformats.org/officeDocument/2006/relationships" id="256" r:id="Re59962bbb7924382"/>
    <p:sldId xmlns:r="http://schemas.openxmlformats.org/officeDocument/2006/relationships" id="257" r:id="Rd13742534be343a0"/>
    <p:sldId xmlns:r="http://schemas.openxmlformats.org/officeDocument/2006/relationships" id="258" r:id="Rfcb97b37d66b48d8"/>
    <p:sldId xmlns:r="http://schemas.openxmlformats.org/officeDocument/2006/relationships" id="259" r:id="R7e16b4fa11a449f8"/>
    <p:sldId xmlns:r="http://schemas.openxmlformats.org/officeDocument/2006/relationships" id="260" r:id="R4fd1bbbab47f46da"/>
    <p:sldId xmlns:r="http://schemas.openxmlformats.org/officeDocument/2006/relationships" id="261" r:id="Reb82c2918c604140"/>
    <p:sldId xmlns:r="http://schemas.openxmlformats.org/officeDocument/2006/relationships" id="262" r:id="Reb80f97d69a348f9"/>
    <p:sldId xmlns:r="http://schemas.openxmlformats.org/officeDocument/2006/relationships" id="263" r:id="Re9028c06c5ba404e"/>
    <p:sldId xmlns:r="http://schemas.openxmlformats.org/officeDocument/2006/relationships" id="264" r:id="R31aad1bf30924d87"/>
    <p:sldId xmlns:r="http://schemas.openxmlformats.org/officeDocument/2006/relationships" id="265" r:id="Rc4f9ad51114040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7c4066cca463d" /><Relationship Type="http://schemas.openxmlformats.org/officeDocument/2006/relationships/slideMaster" Target="/ppt/slideMasters/slideMaster1.xml" Id="R445871e4ba664c51" /><Relationship Type="http://schemas.openxmlformats.org/officeDocument/2006/relationships/notesMaster" Target="/ppt/notesMasters/notesMaster1.xml" Id="R52c56f230a6a4096" /><Relationship Type="http://schemas.openxmlformats.org/officeDocument/2006/relationships/presProps" Target="/ppt/presProps.xml" Id="R5663d871de7241e7" /><Relationship Type="http://schemas.openxmlformats.org/officeDocument/2006/relationships/tableStyles" Target="/ppt/tableStyles.xml" Id="Ra0f37c127978487a" /><Relationship Type="http://schemas.openxmlformats.org/officeDocument/2006/relationships/slide" Target="/ppt/slides/slide1.xml" Id="Re59962bbb7924382" /><Relationship Type="http://schemas.openxmlformats.org/officeDocument/2006/relationships/slide" Target="/ppt/slides/slide2.xml" Id="Rd13742534be343a0" /><Relationship Type="http://schemas.openxmlformats.org/officeDocument/2006/relationships/slide" Target="/ppt/slides/slide3.xml" Id="Rfcb97b37d66b48d8" /><Relationship Type="http://schemas.openxmlformats.org/officeDocument/2006/relationships/slide" Target="/ppt/slides/slide4.xml" Id="R7e16b4fa11a449f8" /><Relationship Type="http://schemas.openxmlformats.org/officeDocument/2006/relationships/slide" Target="/ppt/slides/slide5.xml" Id="R4fd1bbbab47f46da" /><Relationship Type="http://schemas.openxmlformats.org/officeDocument/2006/relationships/slide" Target="/ppt/slides/slide6.xml" Id="Reb82c2918c604140" /><Relationship Type="http://schemas.openxmlformats.org/officeDocument/2006/relationships/slide" Target="/ppt/slides/slide7.xml" Id="Reb80f97d69a348f9" /><Relationship Type="http://schemas.openxmlformats.org/officeDocument/2006/relationships/slide" Target="/ppt/slides/slide8.xml" Id="Re9028c06c5ba404e" /><Relationship Type="http://schemas.openxmlformats.org/officeDocument/2006/relationships/slide" Target="/ppt/slides/slide9.xml" Id="R31aad1bf30924d87" /><Relationship Type="http://schemas.openxmlformats.org/officeDocument/2006/relationships/slide" Target="/ppt/slides/slide10.xml" Id="Rc4f9ad511140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29a53c03c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3ba9c1fe84ab2" /><Relationship Type="http://schemas.openxmlformats.org/officeDocument/2006/relationships/notesMaster" Target="/ppt/notesMasters/notesMaster1.xml" Id="Rf7d00b0d7c50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cccdaf3e674cc5" /><Relationship Type="http://schemas.openxmlformats.org/officeDocument/2006/relationships/notesMaster" Target="/ppt/notesMasters/notesMaster1.xml" Id="R0906e9dbd652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82524cc8bf4550" /><Relationship Type="http://schemas.openxmlformats.org/officeDocument/2006/relationships/notesMaster" Target="/ppt/notesMasters/notesMaster1.xml" Id="R6e24e6959c6f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5712f4495448a" /><Relationship Type="http://schemas.openxmlformats.org/officeDocument/2006/relationships/notesMaster" Target="/ppt/notesMasters/notesMaster1.xml" Id="R313d4d213833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9cd91a5ca4174" /><Relationship Type="http://schemas.openxmlformats.org/officeDocument/2006/relationships/notesMaster" Target="/ppt/notesMasters/notesMaster1.xml" Id="R008f69c41c3f4b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fd10f6d4a04216" /><Relationship Type="http://schemas.openxmlformats.org/officeDocument/2006/relationships/notesMaster" Target="/ppt/notesMasters/notesMaster1.xml" Id="R19215f32126e41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d09a1d6e2b41c9" /><Relationship Type="http://schemas.openxmlformats.org/officeDocument/2006/relationships/notesMaster" Target="/ppt/notesMasters/notesMaster1.xml" Id="R6535f98a31454f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dfd415d794e24" /><Relationship Type="http://schemas.openxmlformats.org/officeDocument/2006/relationships/notesMaster" Target="/ppt/notesMasters/notesMaster1.xml" Id="R3c356a4bc3e542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f4a15f76234be4" /><Relationship Type="http://schemas.openxmlformats.org/officeDocument/2006/relationships/notesMaster" Target="/ppt/notesMasters/notesMaster1.xml" Id="R6a940f90966e45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5d9e38013a4651" /><Relationship Type="http://schemas.openxmlformats.org/officeDocument/2006/relationships/notesMaster" Target="/ppt/notesMasters/notesMaster1.xml" Id="Rda6000171471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USGS station 02472000 https://waterdata.usgs.gov/ms/nwis/uv/?site_no=02472000 ; NOAA NCEI GHCN-Daily https://www.ncei.noaa.gov/products/land-based-station/global-historical-climatology-network-daily . Local project documentation reports the merged 2003-01-01 to 2012-12-31 period, 3,653 daily records, and year-based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details verified against streamflow_project/streamflow_ann.py and EXPLANATION.md. Test set is not used for model selection. The five-seed mean is reported for neural networks; baseline results are single deterministic evaluations.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streamflow_project/reference_results/summary.json. Test means: MLP 2.7482%, LSTM 2.8237%, persistence 3.2319%, linear regression 3.0549%. The source deck’s 0.003 / 0.0035 values are not the saved test RMSE values and are removed because their metric and split were not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streamflow_project/reference_results/summary.json; test NSE values are means for five seeds for MLP and LSTM, and single evaluations for baselines. NSE compares model error to using the observed mean as the prediction; see Nash and Sutcliffe (1970), Journal of Hydrology 10:282–290.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streamflow_project/reference_results/summary.json. Peak threshold 1,500 cfs per streamflow_ann.py. RMSE is reported as % of maximum training flow. Values shown are test means for neural models and baseline test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streamflow_project/reference_results/summary.json, test peak_bias_pct. Neural-network figures are means across five seeds. Bias is defined in streamflow_ann.py as the mean relative error on peak days; negative means underestimation.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are grounded in project scope and app.py forecasting behavior. The project documentation proposes multi-station and upstream predictors, probabilistic outputs, and real-time rainfall testing as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details checked against USGS station page and NOAA NCEI GHCN-Daily official pages. Internal project files provide the exact data window, model procedures, and reported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63724020e4f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41da3ccff4c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e6e96a2a146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ab16ba6334d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37d0fb62e43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48a741fb6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396DBB-825B-49AB-A744-F69B36C99D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46B84B-8AB6-49D0-987F-06FF1B6632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0D86B2-8137-44D3-96A9-1831587E7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20ED5-7302-4E3F-867E-76F1EB86B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C42A79-6353-4FF0-B066-8784175283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D75276-8974-4D84-9452-4746379F2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32DEE6-C07C-4332-9CAF-518CE8D95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81BA3D-F214-4C8C-948F-C432C8D41F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0B4243-9227-40C1-8D5D-E24939505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29EEE8-1C9C-4005-8603-63387CC39D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014cb27ccd493b" /><Relationship Type="http://schemas.openxmlformats.org/officeDocument/2006/relationships/slideLayout" Target="/ppt/slideLayouts/slideLayout1.xml" Id="R2a3f86f2b22c4a4d" /><Relationship Type="http://schemas.openxmlformats.org/officeDocument/2006/relationships/slideLayout" Target="/ppt/slideLayouts/slideLayout2.xml" Id="R69da2381077b4226" /><Relationship Type="http://schemas.openxmlformats.org/officeDocument/2006/relationships/slideLayout" Target="/ppt/slideLayouts/slideLayout3.xml" Id="R72a9aa50a6c64794" /><Relationship Type="http://schemas.openxmlformats.org/officeDocument/2006/relationships/slideLayout" Target="/ppt/slideLayouts/slideLayout4.xml" Id="Rd02bee953d3a46fb" /><Relationship Type="http://schemas.openxmlformats.org/officeDocument/2006/relationships/slideLayout" Target="/ppt/slideLayouts/slideLayout5.xml" Id="R8d96cd99374f492d" /><Relationship Type="http://schemas.openxmlformats.org/officeDocument/2006/relationships/slideLayout" Target="/ppt/slideLayouts/slideLayout6.xml" Id="R1ad08e7b3af9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f86f2b22c4a4d"/>
    <p:sldLayoutId xmlns:r="http://schemas.openxmlformats.org/officeDocument/2006/relationships" id="2147483650" r:id="R69da2381077b4226"/>
    <p:sldLayoutId xmlns:r="http://schemas.openxmlformats.org/officeDocument/2006/relationships" id="2147483651" r:id="R72a9aa50a6c64794"/>
    <p:sldLayoutId xmlns:r="http://schemas.openxmlformats.org/officeDocument/2006/relationships" id="2147483652" r:id="Rd02bee953d3a46fb"/>
    <p:sldLayoutId xmlns:r="http://schemas.openxmlformats.org/officeDocument/2006/relationships" id="2147483653" r:id="R8d96cd99374f492d"/>
    <p:sldLayoutId xmlns:r="http://schemas.openxmlformats.org/officeDocument/2006/relationships" id="2147483654" r:id="R1ad08e7b3af9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e023a838a4fad" /><Relationship Type="http://schemas.openxmlformats.org/officeDocument/2006/relationships/notesSlide" Target="/ppt/notesSlides/notesSlide1.xml" Id="Ra51e90d93c3f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12abbde694af6" /><Relationship Type="http://schemas.openxmlformats.org/officeDocument/2006/relationships/notesSlide" Target="/ppt/notesSlides/notesSlide2.xml" Id="Rdc8c2d7331dd46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68421c21246f7" /><Relationship Type="http://schemas.openxmlformats.org/officeDocument/2006/relationships/notesSlide" Target="/ppt/notesSlides/notesSlide3.xml" Id="Rcd0793a0703b40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89157e0d243b1" /><Relationship Type="http://schemas.openxmlformats.org/officeDocument/2006/relationships/notesSlide" Target="/ppt/notesSlides/notesSlide4.xml" Id="Rf29fbc30e4d047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cdee34e1f49d5" /><Relationship Type="http://schemas.openxmlformats.org/officeDocument/2006/relationships/notesSlide" Target="/ppt/notesSlides/notesSlide5.xml" Id="R80aceeffdc7d41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e2b18faf74b48" /><Relationship Type="http://schemas.openxmlformats.org/officeDocument/2006/relationships/notesSlide" Target="/ppt/notesSlides/notesSlide6.xml" Id="R0164790ffb04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a30e3dc464f77" /><Relationship Type="http://schemas.openxmlformats.org/officeDocument/2006/relationships/notesSlide" Target="/ppt/notesSlides/notesSlide7.xml" Id="Rdac659a056be47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bde8510e641b1" /><Relationship Type="http://schemas.openxmlformats.org/officeDocument/2006/relationships/notesSlide" Target="/ppt/notesSlides/notesSlide8.xml" Id="R930bd7f5b686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66692712742ed" /><Relationship Type="http://schemas.openxmlformats.org/officeDocument/2006/relationships/notesSlide" Target="/ppt/notesSlides/notesSlide9.xml" Id="Raf0c1a69385841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ddc9597db4e23" /><Relationship Type="http://schemas.openxmlformats.org/officeDocument/2006/relationships/notesSlide" Target="/ppt/notesSlides/notesSlide10.xml" Id="R2945e92a5a9b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D1112-BDB9-4D2C-8264-700233C2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5C95A-A98F-4FF1-BEC7-CAEBA8EC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B1FAD-3C04-4274-A28B-652C03EE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C7339-658B-4366-956F-56664B2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9567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DCED5-5A5F-41AD-9E87-93CDFD2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37B2-6F8E-4161-A01D-05CDEF1F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60AF-EB37-4E9A-BB5F-9A740094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STREAMFLOW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E0D88-6C90-4FFD-B2F6-A186F4A6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B8E3D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8E3D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8E3DF"/>
                </a:solidFill>
                <a:latin typeface="Aptos"/>
                <a:ea typeface="Aptos"/>
                <a:cs typeface="Aptos"/>
              </a:rPr>
              <a:t>MLP and LSTM models for daily river discharge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B2F21-417F-42FD-9230-9A98980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D5E2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2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5E2EA"/>
                </a:solidFill>
                <a:latin typeface="Aptos"/>
                <a:ea typeface="Aptos"/>
                <a:cs typeface="Aptos"/>
              </a:rPr>
              <a:t>Methods, test results, and forecast 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D9CD4-9263-4607-B48B-176F945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EF64E-34DE-423C-B5E3-70B14DCE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D5E2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5E2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5E2EA"/>
                </a:solidFill>
                <a:latin typeface="Aptos"/>
                <a:ea typeface="Aptos"/>
                <a:cs typeface="Aptos"/>
              </a:rPr>
              <a:t>Leaf River near Collins, Mississippi  |  2003–2012</a:t>
            </a:r>
          </a:p>
        </p:txBody>
      </p:sp>
    </p:spTree>
    <p:extLst>
      <p:ext uri="{BB962C8B-B14F-4D97-AF65-F5344CB8AC3E}">
        <p14:creationId xmlns:p14="http://schemas.microsoft.com/office/powerpoint/2010/main" val="1022322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10444-BC57-4FBD-8072-8955834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FFE58-FCE4-4D49-AC0F-18E8A93A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a daily flow forecast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757B1-2EAE-4715-B904-7F963D6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E5B85-5ED9-4591-B07E-02D6BF47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6CFA2-852C-4165-B0AD-83CB430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7EE56-C577-44C4-BE09-793118C9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 forecast combines recent river flow and rainfall observations to estimate the next day’s discharge.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E513C-908B-42D1-889C-3F04CAB4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85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0F64C-694C-4609-8EF8-B18A5FBF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DC9B1-D054-4C06-A80C-2430B70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Reservoir planning and water 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53146-3B8C-4F44-8A32-150BE04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85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59D0A-8180-491D-9DB7-B8A50B3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PREPAREDNESS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17BB2-735E-47DD-B8C8-CD92012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Situational awareness during high 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179BB-15B6-40A4-9442-A6C9F14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285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11EAF-0AB3-4B69-A6FA-F208715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>
            <a:def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AA9A7-8C56-4971-AF7A-B49F4AA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 forecast is one input; local thresholds and observed conditions still matter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D1D0C-1530-4E45-8853-3281610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This project evaluates one station and one-day-ahead prediction; it is not a validated flood-warning system.</a:t>
            </a:r>
          </a:p>
        </p:txBody>
      </p:sp>
    </p:spTree>
    <p:extLst>
      <p:ext uri="{BB962C8B-B14F-4D97-AF65-F5344CB8AC3E}">
        <p14:creationId xmlns:p14="http://schemas.microsoft.com/office/powerpoint/2010/main" val="466599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48895-A874-48C2-B568-BF2F7A9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2976B-F20B-4D84-843D-E897554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Dataset and time-based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EB909-83D9-4A49-A7A4-1029E4C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D3797-B088-4B71-868F-1760C1FC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AD88-F0B5-4832-85DC-9DA7AB5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E0086-7E86-4732-BEC4-D21C71C9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3,653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BEE38-1D9C-4D5C-A866-590F0D87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daily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85D39-BB20-4537-A0C2-4540A830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71625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2003–2007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C4114-7939-4C2D-8EEB-76548F3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B2DF2-A470-44D7-9440-CB9FFE68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2008–2010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D92A6-23D8-48AF-B4D2-D3FC1F8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7FE34-8840-4DB7-980F-C4F3F6AA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71625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E58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58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58A3A"/>
                </a:solidFill>
                <a:latin typeface="Aptos"/>
                <a:ea typeface="Aptos"/>
                <a:cs typeface="Aptos"/>
              </a:rPr>
              <a:t>2011–2012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2BCB5-04A4-45A5-8701-A2981C0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final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D25D7-0424-47D8-9CC7-03DA193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235BC-7E74-4B4B-8F09-01141F37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USGS discharge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954CD-9422-4674-89FE-5F062B7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Leaf River near Collins, station 02472000; flow in cubic feet per second (cfs).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D522E-1F36-44DC-BDF6-9615355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NOAA precipitation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1D317-1FBA-4CCD-B6D5-703875D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Daily precipitation from the Collins, Mississippi station; rainfall in inches.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2048C-AD1B-4269-8B2E-DEB22CC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The 3,653-day count includes leap days. Chronological splits keep future years out of model fitting.</a:t>
            </a:r>
          </a:p>
        </p:txBody>
      </p:sp>
    </p:spTree>
    <p:extLst>
      <p:ext uri="{BB962C8B-B14F-4D97-AF65-F5344CB8AC3E}">
        <p14:creationId xmlns:p14="http://schemas.microsoft.com/office/powerpoint/2010/main" val="482903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81E04-430E-4DF6-9D55-5F197F5B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CA310-22C2-4443-AF46-68DE414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the models were evaluated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91555-202E-4A41-B0A2-74CBA1E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4429-116A-42E0-A361-A1FB994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9C7F-133D-4F42-8445-DADA9DF1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4190A-EBA5-4A63-9FD4-C85E350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433DD-20D9-46F2-8316-06A75793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049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C50F6-7272-4246-83DF-574F979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76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Split by 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DEA80-4347-4596-8761-E065011D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7637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Train 2003–07; tune on 2008–10; report final test on 2011–12.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1EA7A-1CB4-4162-85C4-0EB039EE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92E66-4A0A-4CCC-A4A4-9D5FD434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DA445-33E1-4571-AA7E-7758BFF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431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lagged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08670-B347-4791-B273-6BB22F4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4317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Use recent daily rainfall and flow values to predict next-day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DC958-990A-4E3C-9821-B035ED7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789CD-7F90-41D9-87BE-2A527EA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385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04AFE-7EF2-4C2F-B73B-CB9AC940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9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Tune and repeat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0FAE4-1403-4F72-8A21-B9DD33B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997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Choose settings on validation RMSE; retrain each neural model with five random seeds.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AADAF-A069-4F8B-820C-96C0419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BF592-9E72-4A98-BC0C-F325CCC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5438C-6D13-441A-B24D-A463478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76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fairly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BBC11-8908-4BDD-91A6-10BB74C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7677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Score persistence and linear regression on the same held-out periods.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913C2-C00C-47B2-B5FB-02FC59C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Scaling uses training-set maxima only, according to the project script.</a:t>
            </a:r>
          </a:p>
        </p:txBody>
      </p:sp>
    </p:spTree>
    <p:extLst>
      <p:ext uri="{BB962C8B-B14F-4D97-AF65-F5344CB8AC3E}">
        <p14:creationId xmlns:p14="http://schemas.microsoft.com/office/powerpoint/2010/main" val="1680637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6A11A-0F5E-4CEB-B35B-6B6BF29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A0D04-DF16-4723-AB60-A2BD3CC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Test-set error: MLP has the lowest RMSE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42572-F3E7-4F71-A534-46DC56FB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747E6-F506-4407-8F81-8D36224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5613C-AB67-4890-85E8-080D562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9A84C-16C6-416E-9975-D4FB5F4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>
            <a:defPPr>
              <a:defRPr sz="1050" b="1" spc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050" b="1" spc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RMSE (% OF MAXIMUM TRAINING FLOW)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D9BDE-92B2-40FC-99F6-1641AE56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>
              <a:defRPr sz="15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Lower is better  |  test years 2011–2012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1FD13-B3C9-449C-BD23-76AA277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70D67-DAD0-4D45-848E-F21AA27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2E1B3-BE94-4F1B-A6C0-CA93C49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508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4677C-0DC2-4D57-B535-8443DF3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2.75%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7449C-608B-4BFF-9076-D49A6DF7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3FE2A-316C-4A2E-B78E-9A03718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1B70C-8F23-45F2-A964-765E7F4B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523028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9D110-8AD7-4C10-833D-A1B78E63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432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2.82%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2FB21-8C0B-47A6-B0AB-D909DE5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5FDEF-7436-47A2-93E1-E7E21D26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DC10C-657B-489D-B4A5-85BA9EB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565811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CBE53-9534-43B1-BEC7-D54CF529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576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3.06%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04AB3-FB86-451A-86C7-5079B506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B63E0-9733-4CBD-A109-FD8F387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481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D8342-BA08-4C9B-99C6-B0E7DCB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48175"/>
            <a:ext cx="59859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ADE53-F0D7-48E0-A301-191F494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719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3.23%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52D56-56BA-49A3-AB2B-1D8FFEC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Mean over five neural-network seeds. MLP and LSTM rows show test RMSE as % of maximum training flow.</a:t>
            </a:r>
          </a:p>
        </p:txBody>
      </p:sp>
    </p:spTree>
    <p:extLst>
      <p:ext uri="{BB962C8B-B14F-4D97-AF65-F5344CB8AC3E}">
        <p14:creationId xmlns:p14="http://schemas.microsoft.com/office/powerpoint/2010/main" val="753809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099A9-0500-411A-9C8E-E1DD08D0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D7DE1-68CF-45DA-8A75-BF539CF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Test-set skill: neural models score higher on 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FA77E-9D89-4D47-8A91-90CB3A8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F132B-4907-4CD8-A860-8A4A0797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00BCA-2795-4093-A4F1-94FFDDE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883B2-438C-466B-AA88-44D58A5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>
            <a:defPPr>
              <a:defRPr sz="1050" b="1" spc="1">
                <a:solidFill>
                  <a:srgbClr val="176B8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050" b="1" spc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176B87"/>
                </a:solidFill>
                <a:latin typeface="Aptos"/>
                <a:ea typeface="Aptos"/>
                <a:cs typeface="Aptos"/>
              </a:rPr>
              <a:t>NASH–SUTCLIFFE EFFICIENCY (NSE)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D75E4-AEE8-4EC3-AF30-BC7EA1BD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>
              <a:defRPr sz="15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Higher is better  |  1 is a perfect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BFF5-CFFE-4291-A23A-028B2F90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861F6-2733-46B8-AE47-D6803FF3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C52E7-8F7A-4B40-B50B-66107E7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54340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8A0D7-6DFA-46FB-8AFD-B1B50A1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0.815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8D9E4-F0B9-40FA-91AA-57557808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EF7F4-7A35-47F2-9DFF-02A76F32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8A56F-07F8-4BD5-AF6C-42748EB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531399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FB327-93E9-4EC2-B3E3-FB4AF31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432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0.797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A93ED-166C-4DDB-B332-CA4797E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389C0-537A-4560-83F8-840E7A33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79542-06E4-4E3A-A9B8-728B8F8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514064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E1B57-6788-4E7B-8A2A-BF5709D8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576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0.771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894AE-7153-49FD-8597-430BD3B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14D2A-1FCF-4718-9DC3-B96160E0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481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C84D0-0148-4E9E-94C7-347F45F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48175"/>
            <a:ext cx="49606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4F155-E751-4AD0-9F54-642F214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719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0.744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3A458-3B83-4CB2-96EA-5B247E90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On this test period, both neural models outperform the two baselines on overall RMSE and NSE.</a:t>
            </a:r>
          </a:p>
        </p:txBody>
      </p:sp>
    </p:spTree>
    <p:extLst>
      <p:ext uri="{BB962C8B-B14F-4D97-AF65-F5344CB8AC3E}">
        <p14:creationId xmlns:p14="http://schemas.microsoft.com/office/powerpoint/2010/main" val="179624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F2B9BD-452E-4885-94F2-814C775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1C89A-2CC4-4488-A86B-D216404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High-flow errors remain larger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6DDF6-FE47-46A7-89C6-1966897F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3306-38F2-4BC2-9A04-6139A32E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2341-B9BA-455C-A186-FDDA8FA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83C2-5B5A-41DB-A9A7-3FD80ED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Peak RMSE is much higher than non-peak RMSE for every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620FE-E818-4DBB-BBB7-A533057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Test RMSE (% of maximum training flow)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91018-5B05-4C84-B8C3-4D5ABEA8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>
            <a:defPPr>
              <a:defRPr sz="12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Peak days: observed flow &gt; 1,500 cfs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AB89D-3170-4044-874F-05747C7E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4E9E2-9F81-4D97-955D-213D11E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583287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8D483-73D1-4CD5-B2B2-7CEB85AE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822" y="2971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8.16%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72AF5-BE12-4299-BB35-E3337D68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49720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92B79-47D4-497B-B5D4-5A35C8B2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155" y="3267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0.70%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20CE6-06BD-4042-8336-8B96D664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7A8B5-CF10-4105-B94E-BA3DD0C7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2444D-E405-44D4-A5AF-FD6D63D5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95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8.40%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83911-0894-421C-9A4F-1CBE41DF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420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F88A7-12A0-4BB9-9D1A-C8B8CF0C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717" y="39909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0.59%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2167A-A568-474F-BCD4-C5AC9105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6D052-C56B-4AAE-9AB0-188EA25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651224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EC6B1-9512-4F61-BA7B-8E69A8C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192" y="4419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9.12%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50687-B10A-4B69-8212-3624B39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72025"/>
            <a:ext cx="51506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7AB90-63FF-4B62-9CAF-FF00AA9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014" y="4714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0.72%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13A7F-C94D-4F46-8997-32B41B5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4F1B3-7171-4D1D-B7F9-224F62AE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689300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B7009-6349-472B-8D88-2EE32FA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954" y="5143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9.65%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90BD0-1793-4E1A-BCCA-17885F95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95925"/>
            <a:ext cx="53935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F8DD7-74A3-47C9-BD1D-E1CBAD6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303" y="5438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>
            <a:def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0.76%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CC4BA-500F-442F-A04B-D7DB5B60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>
            <a:defPPr>
              <a:defRPr sz="12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Orange = peak RMSE     Teal = non-peak RMSE</a:t>
            </a:r>
          </a:p>
        </p:txBody>
      </p:sp>
    </p:spTree>
    <p:extLst>
      <p:ext uri="{BB962C8B-B14F-4D97-AF65-F5344CB8AC3E}">
        <p14:creationId xmlns:p14="http://schemas.microsoft.com/office/powerpoint/2010/main" val="1983342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579BB-B713-47ED-9FB8-63DBD0E9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1810D-56FB-47C9-B697-1B6C76E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Peak bias: neural models tend to underpredict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883A9-DD1D-4371-8D9F-7226B17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6588-641B-411A-B533-6771F53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6E3CF-D17A-4505-AAC8-1A8A937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BBEFC-DB49-45AE-88E3-7D43B2E2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>
            <a:defPPr>
              <a:defRPr sz="17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Mean signed peak bias on the test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A1E3B-912A-4CC5-A393-098B3F5A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Negative values mean underprediction; zero means no average signed bias.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0833B-E32B-47FA-A3AE-420B3A2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5C5B-E74E-4BF0-A28C-EC768B3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MLP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7D17A-529D-4F6A-A676-D0F2091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94BDF-2F27-4D92-8E60-4649918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-3.25%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BD468-59AE-4B59-87BF-EA7BA58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>
            <a:def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9FA33-DF3E-451E-AF44-F0C6EBF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323" y="3371850"/>
            <a:ext cx="227342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1ABFA-C75D-407F-A69F-88E0C57E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948" y="3333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-6.63%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EFE97-900D-45AF-8432-8F3F1BA4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Linear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4A3BE-46E7-4027-8AC1-B5999FA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931" y="4057650"/>
            <a:ext cx="312381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E2629-83C8-4F1E-B244-BC91563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556" y="40195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-9.11%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1D4AC-231E-42C4-B666-A2ADE27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3FA70-4AD9-4D7D-B8DD-FA16A2F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173" y="4743450"/>
            <a:ext cx="445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F1761-C7A5-4C5A-8003-A4AC2A4D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98" y="47053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247"/>
                </a:solidFill>
                <a:latin typeface="Aptos"/>
                <a:ea typeface="Aptos"/>
                <a:cs typeface="Aptos"/>
              </a:rPr>
              <a:t>-0.13%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32B05-D378-498A-A9A4-1642F2A1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Bias complements RMSE: persistence has near-zero average bias but the largest overall error.</a:t>
            </a:r>
          </a:p>
        </p:txBody>
      </p:sp>
    </p:spTree>
    <p:extLst>
      <p:ext uri="{BB962C8B-B14F-4D97-AF65-F5344CB8AC3E}">
        <p14:creationId xmlns:p14="http://schemas.microsoft.com/office/powerpoint/2010/main" val="2097966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651B2-77B7-4AF3-A235-63EDB02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62496-5287-44D5-966F-628CEE3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Forecast limits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C8DA4-AAE6-469A-A105-4343617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EA4B0-6949-4894-A1AB-80F2B77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1ACB1-2424-4023-8C0E-6334C456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88A4A-6B17-4F09-B7EC-FE9DCAE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this experiment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805C8-2921-452A-AB36-6EB31C9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 one-station, one-day-ahead backtest on 2011–2012. Neural models improve overall error and NSE versus the included baselines.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64917-1C83-40C0-A4CF-5B01AFB7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it does not establish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B3D02-9FEB-439C-A081-F8360332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Reliable flood warnings, performance at other rivers, or multi-day forecast accuracy. The app’s recursive forecast feeds predictions forward and can accumulate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EE9D9-8B30-44AC-811C-4CD5DBF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14FD1-D2B3-4970-97D2-88249FB2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>
            <a:defPPr>
              <a:defRPr sz="16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9E4EF-78F2-46B1-BA6F-143ED0DB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Test additional stations and upstream predictors; evaluate multi-day forecasts with future rainfall inputs; report uncertainty and event-specific peak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EB42D-E857-4F2A-B0C9-BA28E2C7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E58A3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58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8A3A"/>
                </a:solidFill>
                <a:latin typeface="Aptos"/>
                <a:ea typeface="Aptos"/>
                <a:cs typeface="Aptos"/>
              </a:rPr>
              <a:t>Treat these results as a project benchmark, not operational guidance.</a:t>
            </a:r>
          </a:p>
        </p:txBody>
      </p:sp>
    </p:spTree>
    <p:extLst>
      <p:ext uri="{BB962C8B-B14F-4D97-AF65-F5344CB8AC3E}">
        <p14:creationId xmlns:p14="http://schemas.microsoft.com/office/powerpoint/2010/main" val="1719205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B9872-8A19-438E-B373-EE68E23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F3FB6-C55F-469F-843D-A608A1D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Sources and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7A435-3A70-44AC-8EE4-70FAB40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DF7DA-872D-476A-A5CA-026649B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STREAMFLOW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5DAB8-9E39-46FF-8DD6-0A1DA20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BCDA6-C725-4738-ABEB-5E3C2F32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C9A24-F0F4-4621-BCA9-9F821F7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USGS station 02472000 — Leaf River near Collins, Mississippi</a:t>
            </a:r>
          </a:p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waterdata.usgs.gov/ms/nwis/uv/?site_no=02472000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8C694-D4E4-4708-8456-6AD0488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NOAA NCEI — Global Historical Climatology Network Daily (GHCN-Daily)</a:t>
            </a:r>
          </a:p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ncei.noaa.gov/products/land-based-station/global-historical-climatology-network-daily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702FF-EE79-407D-97D6-36EF54FE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Project results and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8CD2C-DD3C-495D-BF71-310C571F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Local project files: reference_results/summary.json, streamflow_ann.py, and EXPLANATION.md. All reported results use the saved project summary.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62D27-DD8E-4AE7-B832-02EAEA8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>
            <a:def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79BD8-D050-4514-8031-DD1C6C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RMSE is normalized by maximum training flow. NSE compares predictions with the observed mean. Peak days are defined as observed flow above 1,500 cfs.</a:t>
            </a:r>
          </a:p>
        </p:txBody>
      </p:sp>
    </p:spTree>
    <p:extLst>
      <p:ext uri="{BB962C8B-B14F-4D97-AF65-F5344CB8AC3E}">
        <p14:creationId xmlns:p14="http://schemas.microsoft.com/office/powerpoint/2010/main" val="1652745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2026-10-10T05:33:12.0700000Z</dcterms:created>
  <dcterms:modified xsi:type="dcterms:W3CDTF">2026-10-10T05:33:12.0700000Z</dcterms:modified>
</coreProperties>
</file>